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Job Acceptance Prediction System, built for the GUVI HCL Data Science program. It's a complete ML pipeline — from a 50,000-row synthetic HR dataset through cleaning, EDA, 5-algorithm model comparison, and a live Streamlit prediction dashboard. Best model achieved 69.8% AUC-ROC.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6-stage pipeline overview. Walk through each stage briefly: problem understanding, cleaning, feature engineering, EDA, model training, and the dashboard. Emphasize this is a fully automated pipeline — one command (python setup.py) runs stages 1-5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50,000 synthetic HR records with 23 raw columns across 6 feature groups. Deliberately injected data quality issues mirror real-world messy data — missing values, inconsistent category spellings, duplicates. This tests the robustness of the cleaning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6 cleaning steps with real numbers from the pipeline run. S1: duplicate removal via composite key. S2: canonical category mapping fixed 17,754 messy values across tier/competition/gender. S3: 27,294 missing cells imputed with median/mode. S5: target encoded, revealing 56.3% overall placement rate. S6: final encoding+scaling makes data ML-ready.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adds business-meaningful signals on top of raw columns. The Placement Probability Score (0-100) is a key composite metric combining interview score (30%), skills match (25%), academic score (20%), employability (15%), and certification bonus (10%), minus a backlog penalty. High-Risk flag identifies candidates needing extra support. These engineered features significantly improve model interpretability for HR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chart 1: overall placement split is 56.3% Placed vs 43.7% Not Placed — a reasonably balanced target, good for classification. Right chart: placement rate climbs from Tier 3 to Tier 1 companies. This makes intuitive sense — Tier 1 firms often see more selective, better-prepared applicant pools.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correlation heatmap confirms our composite Placement Probability score design was directionally correct: interview_score and skills_match_pct show the strongest positive correlation with status_num, while backlogs is negatively correlated. This validates the feature engineering choices carried into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EDA suite: 15 matplotlib/seaborn charts saved to outputs/eda_charts/, covering every dimension of the dataset — academics, interview performance, skills, company tier, experience, competition, certifications, correlations, salary, demographics, and job roles. Each chart pairs a distribution or comparison view with a placement-rate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algorithms spanning linear, instance-based, single-tree, and two ensemble methods (bagging + boosting). All trained on an 80/20 stratified split — 40,000 training / 10,000 test samples, using 25 engineered and encoded features. 5-fold Stratified Cross-Validation is used to verify AUC stability. The single selection metric is AUC-ROC on the held-out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 curve comparison across all 5 models. Logistic Regression and Gradient Boosting are nearly tied at the top (AUC 0.698 vs 0.696), Random Forest close behind at 0.689. KNN is the weakest performer at 0.596 — distance-based classifiers often underperform on mixed categorical/numeric feature spaces without heavy tuning. An AUC around 0.70 is realistic and credible for noisy behavioral/HR data — not overfit.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comparison table across 6 metrics. Logistic Regression wins on AUC-ROC (0.698) and shows the tightest cross-validation variance (±0.004), meaning it generalizes consistently. Gradient Boosting actually has the highest F1 (0.707) thanks to strong recall (75.8%) — worth mentioning if asked about precision/recall tradeoffs — but Logistic Regression is selected as best overall by the primary AUC-ROC criterion defined in the training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feature importance for the best model, ranked by absolute coefficient magnitude (Logistic Regression). Interview score, skills match, and academic score dominate — consistent with the correlation heatmap from earlier. Right: confusion matrix on the 10,000-row test set shows the model correctly identifies the majority of both classes, with a precision-recall balance favoring correct Placed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ranking chart, best model highlighted in green. AUC-ROC was chosen as the primary selection metric because it's threshold-independent — it measures how well a model ranks Placed candidates above Not Placed ones across every possible cutoff, which matters more for a scoring/ranking tool than a fixed-threshold accuracy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Streamlit dashboard has 4 pages, all driven by cached data loading (@st.cache_resource) for fast interaction. Overview gives recruiters a live KPI snapshot. EDA Charts lets them explore the same 15 analyses interactively with Plotly, filterable by tier/competition/experience/status. Model Results surfaces the training reports. Predict is the star feature — a live scoring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mocks up the live prediction experience. A recruiter enters candidate details on the left — GPA, interview score, skills match, certification, company tier, competition level. The dashboard instantly computes the placement probability using the saved best_model.pkl, shows a gauge chart, a Placed/Not Placed verdict, a risk level badge, and a breakdown of the key contributing factors — all rendered with Plotly gauge indicators in the real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stack: Python, Pandas/NumPy for data, Matplotlib/Seaborn for static EDA, Plotly for the interactive dashboard, Scikit-learn for all 5 models, Streamlit for the web app, Joblib for model persistence. Modular project structure — each stage is its own package (data, preprocessing, features, eda, models, dashboard) with a single setup.py orchestrating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insights slide — translate the technical findings into recruiter-facing action items. Interview score dominates as a predictor, so prep programs matter. Backlogs and certifications both show clear directional effects. Company tier correlates with acceptance rate. The high-risk flag is directly actionable — it's not just an analysis artifact but a targeting tool. Close with a realistic framing of the 69.8% AUC as a credible starting point, not an inflated demo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slide. Recap the full journey: 50K messy records, 6-step cleaning, 8 engineered features, 15 EDA charts, 5 models compared, Logistic Regression selected at 0.698 AUC-ROC, and a live dashboard for real-time scoring. End on the practical value: this isn't just a model — it's a decision-support tool recruiters can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657600"/>
            <a:ext cx="3657600" cy="3657600"/>
          </a:xfrm>
          <a:prstGeom prst="ellipse">
            <a:avLst/>
          </a:prstGeom>
          <a:solidFill>
            <a:srgbClr val="F7B731">
              <a:alpha val="8000"/>
            </a:srgbClr>
          </a:solidFill>
          <a:ln w="1270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05840"/>
            <a:ext cx="82296" cy="8229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548640"/>
            <a:ext cx="82296" cy="8229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1554480"/>
            <a:ext cx="82296" cy="8229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2103120"/>
            <a:ext cx="82296" cy="8229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0" y="2743200"/>
            <a:ext cx="82296" cy="8229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0292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7B731"/>
                </a:solidFill>
              </a:rPr>
              <a:t>GUVI HCL  ·  DATA SCIENCE PROGRAM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Acceptance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for Predicting Candidate Placement Outcomes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2920" y="5102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Candidate Records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0896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108960" y="5102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ML Algorithms Compared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69.8%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15000" y="5102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Best Model AUC-ROC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104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5102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Analytical Visualizations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806440"/>
            <a:ext cx="1024128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HR Analytics &amp; Predictive Modeling   |   Tech: Python · Scikit-learn · Streamlit · Plotly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Process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37844" y="1965960"/>
            <a:ext cx="621792" cy="621792"/>
          </a:xfrm>
          <a:prstGeom prst="ellipse">
            <a:avLst/>
          </a:prstGeom>
          <a:solidFill>
            <a:srgbClr val="6C63FF"/>
          </a:solidFill>
          <a:ln w="381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784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59636" y="2276856"/>
            <a:ext cx="1234440" cy="0"/>
          </a:xfrm>
          <a:prstGeom prst="line">
            <a:avLst/>
          </a:prstGeom>
          <a:noFill/>
          <a:ln w="25400">
            <a:solidFill>
              <a:srgbClr val="2A3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02920" y="288036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" y="3008376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356616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Understand the HR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placement 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challenge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94076" y="1965960"/>
            <a:ext cx="621792" cy="621792"/>
          </a:xfrm>
          <a:prstGeom prst="ellipse">
            <a:avLst/>
          </a:prstGeom>
          <a:solidFill>
            <a:srgbClr val="48CAE4"/>
          </a:solidFill>
          <a:ln w="381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94076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15868" y="2276856"/>
            <a:ext cx="1234440" cy="0"/>
          </a:xfrm>
          <a:prstGeom prst="line">
            <a:avLst/>
          </a:prstGeom>
          <a:noFill/>
          <a:ln w="25400">
            <a:solidFill>
              <a:srgbClr val="2A32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359152" y="288036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3008376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56616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6-step pipeline fixing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missing &amp; inconsistent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0308" y="1965960"/>
            <a:ext cx="621792" cy="621792"/>
          </a:xfrm>
          <a:prstGeom prst="ellipse">
            <a:avLst/>
          </a:prstGeom>
          <a:solidFill>
            <a:srgbClr val="06D6A0"/>
          </a:solidFill>
          <a:ln w="381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0308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72100" y="2276856"/>
            <a:ext cx="1234440" cy="0"/>
          </a:xfrm>
          <a:prstGeom prst="line">
            <a:avLst/>
          </a:prstGeom>
          <a:noFill/>
          <a:ln w="25400">
            <a:solidFill>
              <a:srgbClr val="2A324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215384" y="288036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25112" y="3008376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5112" y="356616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Derive 8 new signals: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risk score, academic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band, etc.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06540" y="1965960"/>
            <a:ext cx="621792" cy="621792"/>
          </a:xfrm>
          <a:prstGeom prst="ellipse">
            <a:avLst/>
          </a:prstGeom>
          <a:solidFill>
            <a:srgbClr val="F7B731"/>
          </a:solidFill>
          <a:ln w="381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06540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28332" y="2276856"/>
            <a:ext cx="1234440" cy="0"/>
          </a:xfrm>
          <a:prstGeom prst="line">
            <a:avLst/>
          </a:prstGeom>
          <a:noFill/>
          <a:ln w="25400">
            <a:solidFill>
              <a:srgbClr val="2A324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071616" y="288036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81344" y="3008376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1344" y="356616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15 charts uncovering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placement drivers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62772" y="1965960"/>
            <a:ext cx="621792" cy="621792"/>
          </a:xfrm>
          <a:prstGeom prst="ellipse">
            <a:avLst/>
          </a:prstGeom>
          <a:solidFill>
            <a:srgbClr val="EF476F"/>
          </a:solidFill>
          <a:ln w="381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62772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084564" y="2276856"/>
            <a:ext cx="1234440" cy="0"/>
          </a:xfrm>
          <a:prstGeom prst="line">
            <a:avLst/>
          </a:prstGeom>
          <a:noFill/>
          <a:ln w="25400">
            <a:solidFill>
              <a:srgbClr val="2A324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927848" y="288036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37576" y="3008376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37576" y="356616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5 algorithms trained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cross-validated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319004" y="1965960"/>
            <a:ext cx="621792" cy="621792"/>
          </a:xfrm>
          <a:prstGeom prst="ellipse">
            <a:avLst/>
          </a:prstGeom>
          <a:solidFill>
            <a:srgbClr val="6C63FF"/>
          </a:solidFill>
          <a:ln w="381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31900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784080" y="288036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893808" y="3008376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Prediction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893808" y="356616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Live Streamlit app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real-time scoring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074920"/>
            <a:ext cx="11201400" cy="1051560"/>
          </a:xfrm>
          <a:prstGeom prst="roundRect">
            <a:avLst>
              <a:gd name="adj" fmla="val 10435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" y="5285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554480" y="52120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Goal: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candidate will be Placed or Not Placed, using academic, interview, and market signals — enabling recruiters to prioritize outreach and identify at-risk candidates early.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· PROBLEM &amp;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Realistic, Messy HR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1305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Candidate Records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21305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Raw 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788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3319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Placement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69748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788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3319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Cells w/ Quality Issues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508760"/>
            <a:ext cx="5669280" cy="4160520"/>
          </a:xfrm>
          <a:prstGeom prst="roundRect">
            <a:avLst>
              <a:gd name="adj" fmla="val 3077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Feature Groups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2203704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12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Academic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368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GPA · 10th % · 12th % · Backlogs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770632"/>
            <a:ext cx="128016" cy="12801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</a:rPr>
              <a:t>Experience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935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Years Exp · Projects Done · # Skills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33756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Assessment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Interview · Aptitude · Employability Scores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904488"/>
            <a:ext cx="128016" cy="128016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B731"/>
                </a:solidFill>
              </a:rPr>
              <a:t>Market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Company Tier · Job Role · Salary · Competition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471416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379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Demographic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4636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Age · Gender · Location Preference Match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03834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9469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5202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status → Placed / Not Placed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97764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1C2330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76F"/>
                </a:solidFill>
              </a:rPr>
              <a:t>⚠️  Intentional Data Quality Issues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" y="44805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</a:rPr>
              <a:t>Missing values (~5–10%) in scores, GPA, salary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</a:rPr>
              <a:t>Inconsistent categories: 'tier1' / 'TIER 1' / 'Tier-1'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</a:rPr>
              <a:t>~2% duplicate-like records injected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6-Step Data Cleaning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611880" cy="1481328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627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Remove Duplicates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1,000 duplicate rows removed via composite-key matching (GPA + scores + tier + status)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51,000 → 50,000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611880" cy="1481328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6459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459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627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Standardize Categoricals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0116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Canonical mapping fixes messy labels: 'tier1' / 'TIER 1' → 'Tier 1'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679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8CAE4"/>
                </a:solidFill>
              </a:rPr>
              <a:t>17,754 values fixed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92440" y="1508760"/>
            <a:ext cx="3611880" cy="1481328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6459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459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1627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Handle Missing Values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20116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Numeric columns filled with median; categorical with mode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0" y="2679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27,294 cells imputed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154680"/>
            <a:ext cx="3611880" cy="1481328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9184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Consistency Checks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36576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Clip out-of-range scores (e.g. GPA outside 4.0–10.0) to valid bounds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B731"/>
                </a:solidFill>
              </a:rPr>
              <a:t>Range validation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3154680"/>
            <a:ext cx="3611880" cy="1481328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329184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Encode Target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34840" y="36576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Map status to binary: Placed = 1, Not Placed = 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</a:rPr>
              <a:t>56.3% placement rate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92440" y="3154680"/>
            <a:ext cx="3611880" cy="1481328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329184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2396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Encode &amp; Scale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0" y="36576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Label-encode categoricals; StandardScaler on numeric features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2960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ML-ready matrix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FEATURE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Derived Signals for Better Predictions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673352"/>
            <a:ext cx="621792" cy="621792"/>
          </a:xfrm>
          <a:prstGeom prst="ellipse">
            <a:avLst/>
          </a:prstGeom>
          <a:solidFill>
            <a:srgbClr val="6C63FF">
              <a:alpha val="22000"/>
            </a:srgbClr>
          </a:solidFill>
          <a:ln w="15875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673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🎓</a:t>
            </a:r>
            <a:endParaRPr lang="en-US" sz="1768" dirty="0"/>
          </a:p>
        </p:txBody>
      </p:sp>
      <p:sp>
        <p:nvSpPr>
          <p:cNvPr id="8" name="Text 6"/>
          <p:cNvSpPr/>
          <p:nvPr/>
        </p:nvSpPr>
        <p:spPr>
          <a:xfrm>
            <a:off x="1417320" y="1627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</a:rPr>
              <a:t>Academic Score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17320" y="19293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Weighted blend: 25% 10th + 25% 12th + 50% GPA(scaled)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9944" y="1673352"/>
            <a:ext cx="621792" cy="621792"/>
          </a:xfrm>
          <a:prstGeom prst="ellipse">
            <a:avLst/>
          </a:prstGeom>
          <a:solidFill>
            <a:srgbClr val="48CAE4">
              <a:alpha val="22000"/>
            </a:srgbClr>
          </a:solidFill>
          <a:ln w="15875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673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📊</a:t>
            </a:r>
            <a:endParaRPr lang="en-US" sz="1768" dirty="0"/>
          </a:p>
        </p:txBody>
      </p:sp>
      <p:sp>
        <p:nvSpPr>
          <p:cNvPr id="13" name="Text 11"/>
          <p:cNvSpPr/>
          <p:nvPr/>
        </p:nvSpPr>
        <p:spPr>
          <a:xfrm>
            <a:off x="7178040" y="1627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8CAE4"/>
                </a:solidFill>
              </a:rPr>
              <a:t>Academic Band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19293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5-tier bucket: Poor → Below Avg → Average → Good → Excellent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02920" y="2596896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" y="2761488"/>
            <a:ext cx="621792" cy="621792"/>
          </a:xfrm>
          <a:prstGeom prst="ellipse">
            <a:avLst/>
          </a:prstGeom>
          <a:solidFill>
            <a:srgbClr val="06D6A0">
              <a:alpha val="22000"/>
            </a:srgbClr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761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💼</a:t>
            </a:r>
            <a:endParaRPr lang="en-US" sz="1768" dirty="0"/>
          </a:p>
        </p:txBody>
      </p:sp>
      <p:sp>
        <p:nvSpPr>
          <p:cNvPr id="18" name="Text 16"/>
          <p:cNvSpPr/>
          <p:nvPr/>
        </p:nvSpPr>
        <p:spPr>
          <a:xfrm>
            <a:off x="1417320" y="27157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</a:rPr>
              <a:t>Experience Category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3017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Fresher / Junior / Mid-Level / Senior from years of experience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263640" y="2596896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9944" y="2761488"/>
            <a:ext cx="621792" cy="621792"/>
          </a:xfrm>
          <a:prstGeom prst="ellipse">
            <a:avLst/>
          </a:prstGeom>
          <a:solidFill>
            <a:srgbClr val="F7B731">
              <a:alpha val="22000"/>
            </a:srgbClr>
          </a:solidFill>
          <a:ln w="15875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2761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🧠</a:t>
            </a:r>
            <a:endParaRPr lang="en-US" sz="1768" dirty="0"/>
          </a:p>
        </p:txBody>
      </p:sp>
      <p:sp>
        <p:nvSpPr>
          <p:cNvPr id="23" name="Text 21"/>
          <p:cNvSpPr/>
          <p:nvPr/>
        </p:nvSpPr>
        <p:spPr>
          <a:xfrm>
            <a:off x="7178040" y="27157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B731"/>
                </a:solidFill>
              </a:rPr>
              <a:t>Skills Level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78040" y="3017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Low / Medium / High / Excellent from skills-match %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02920" y="3685032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" y="3849624"/>
            <a:ext cx="621792" cy="621792"/>
          </a:xfrm>
          <a:prstGeom prst="ellipse">
            <a:avLst/>
          </a:prstGeom>
          <a:solidFill>
            <a:srgbClr val="EF476F">
              <a:alpha val="22000"/>
            </a:srgbClr>
          </a:solidFill>
          <a:ln w="15875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🎤</a:t>
            </a:r>
            <a:endParaRPr lang="en-US" sz="1768" dirty="0"/>
          </a:p>
        </p:txBody>
      </p:sp>
      <p:sp>
        <p:nvSpPr>
          <p:cNvPr id="28" name="Text 26"/>
          <p:cNvSpPr/>
          <p:nvPr/>
        </p:nvSpPr>
        <p:spPr>
          <a:xfrm>
            <a:off x="1417320" y="38039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76F"/>
                </a:solidFill>
              </a:rPr>
              <a:t>Interview Category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17320" y="41056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5-tier performance band from interview score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263640" y="3685032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9944" y="3849624"/>
            <a:ext cx="621792" cy="621792"/>
          </a:xfrm>
          <a:prstGeom prst="ellipse">
            <a:avLst/>
          </a:prstGeom>
          <a:solidFill>
            <a:srgbClr val="6C63FF">
              <a:alpha val="22000"/>
            </a:srgbClr>
          </a:solidFill>
          <a:ln w="15875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🏅</a:t>
            </a:r>
            <a:endParaRPr lang="en-US" sz="1768" dirty="0"/>
          </a:p>
        </p:txBody>
      </p:sp>
      <p:sp>
        <p:nvSpPr>
          <p:cNvPr id="33" name="Text 31"/>
          <p:cNvSpPr/>
          <p:nvPr/>
        </p:nvSpPr>
        <p:spPr>
          <a:xfrm>
            <a:off x="7178040" y="38039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</a:rPr>
              <a:t>Has Certification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178040" y="41056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Binary flag: any professional cert held?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502920" y="4773168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224" y="4937760"/>
            <a:ext cx="621792" cy="621792"/>
          </a:xfrm>
          <a:prstGeom prst="ellipse">
            <a:avLst/>
          </a:prstGeom>
          <a:solidFill>
            <a:srgbClr val="48CAE4">
              <a:alpha val="22000"/>
            </a:srgbClr>
          </a:solidFill>
          <a:ln w="15875">
            <a:solidFill>
              <a:srgbClr val="48C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4937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🎯</a:t>
            </a:r>
            <a:endParaRPr lang="en-US" sz="1768" dirty="0"/>
          </a:p>
        </p:txBody>
      </p:sp>
      <p:sp>
        <p:nvSpPr>
          <p:cNvPr id="38" name="Text 36"/>
          <p:cNvSpPr/>
          <p:nvPr/>
        </p:nvSpPr>
        <p:spPr>
          <a:xfrm>
            <a:off x="1417320" y="4892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8CAE4"/>
                </a:solidFill>
              </a:rPr>
              <a:t>Placement Probability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417320" y="5193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Composite 0–100 score blending interview, skills, academics &amp; certs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263640" y="4773168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9944" y="4937760"/>
            <a:ext cx="621792" cy="621792"/>
          </a:xfrm>
          <a:prstGeom prst="ellipse">
            <a:avLst/>
          </a:prstGeom>
          <a:solidFill>
            <a:srgbClr val="EF476F">
              <a:alpha val="22000"/>
            </a:srgbClr>
          </a:solidFill>
          <a:ln w="15875">
            <a:solidFill>
              <a:srgbClr val="EF47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4937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dirty="0">
                <a:solidFill>
                  <a:srgbClr val="000000"/>
                </a:solidFill>
              </a:rPr>
              <a:t>⚠️</a:t>
            </a:r>
            <a:endParaRPr lang="en-US" sz="1768" dirty="0"/>
          </a:p>
        </p:txBody>
      </p:sp>
      <p:sp>
        <p:nvSpPr>
          <p:cNvPr id="43" name="Text 41"/>
          <p:cNvSpPr/>
          <p:nvPr/>
        </p:nvSpPr>
        <p:spPr>
          <a:xfrm>
            <a:off x="7178040" y="4892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76F"/>
                </a:solidFill>
              </a:rPr>
              <a:t>High-Risk Flag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178040" y="5193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Flags candidates with low probability, weak interview, or 2+ backlogs</a:t>
            </a:r>
            <a:endParaRPr lang="en-US" sz="97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Overview &amp; Company Tier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949440" cy="4709160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assets/01_placeme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658368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63040"/>
            <a:ext cx="4069080" cy="4709160"/>
          </a:xfrm>
          <a:prstGeom prst="roundRect">
            <a:avLst>
              <a:gd name="adj" fmla="val 3146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🔑  Key Reads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56.3% of candidates in the dataset were ultimately Placed — a moderately balanced target for classification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Tier 1 companies show the highest acceptance rate, consistent with better-prepared candidate pools applying there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Company tier alone is a strong early signal — it's used as a categorical feature in every model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Heatmap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223760" cy="4709160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assets/09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667512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463040"/>
            <a:ext cx="3794760" cy="4709160"/>
          </a:xfrm>
          <a:prstGeom prst="roundRect">
            <a:avLst>
              <a:gd name="adj" fmla="val 337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0" y="1645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🔥  What Correlates with Placement?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377440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8472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</a:rPr>
              <a:t>Interview Score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348472" y="2551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Strongest positive driver of status_num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8138160" y="3154680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48472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</a:rPr>
              <a:t>Skills Match %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48472" y="33284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Second-strongest positive correlation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8138160" y="3931920"/>
            <a:ext cx="118872" cy="118872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48472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8CAE4"/>
                </a:solidFill>
              </a:rPr>
              <a:t>Employability Score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348472" y="41056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Moderate positive correlation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8138160" y="4709160"/>
            <a:ext cx="118872" cy="11887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48472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Backlogs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48472" y="4882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B949E"/>
                </a:solidFill>
              </a:rPr>
              <a:t>Negative correlation with placement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Charts, One Complete Picture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6733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16152" y="16276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Placement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16152" y="19110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Donut + tier bar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6733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6276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Academic vs Placement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0912" y="19110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GPA / 10th / 12th histograms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02168" y="16733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05672" y="16276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Interview vs Placement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05672" y="19110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Score distributions + medians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2441448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16152" y="25603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Skills Match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16152" y="28437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Box plot + level breakdown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297680" y="2441448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07408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10912" y="25603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Company Tier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8437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Acceptance rate + volume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092440" y="2441448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02168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021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25603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Experience Analysis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05672" y="28437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Years + category placement rate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3374136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" y="35387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16152" y="34930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Competition Level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16152" y="3776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Low/Medium/High impact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297680" y="3374136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07408" y="35387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10912" y="34930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Certification Impact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10912" y="3776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Cert type + has-cert comparison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8092440" y="3374136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02168" y="35387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0216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805672" y="34930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Correlation Heatmap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05672" y="3776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Full numeric feature matrix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502920" y="4306824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" y="44714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16152" y="44256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Placement Probability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16152" y="4709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Histogram + violin plot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4297680" y="4306824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407408" y="44714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07408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11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10912" y="44256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Backlogs Impact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10912" y="4709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Placement rate by backlog count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8092440" y="4306824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202168" y="44714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02168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12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805672" y="44256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Salary Analysis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805672" y="4709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Distribution + band acceptance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502920" y="5239512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2648" y="54041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13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216152" y="535838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Gender Analysis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216152" y="5641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Placement rate + distribution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4297680" y="5239512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407408" y="54041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07408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14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010912" y="535838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 Role Analysis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010912" y="5641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Rate + application volume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8092440" y="5239512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202168" y="54041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02168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15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8805672" y="535838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Academic Band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805672" y="5641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</a:rPr>
              <a:t>5-tier band vs placement rate</a:t>
            </a:r>
            <a:endParaRPr lang="en-US" sz="880" dirty="0"/>
          </a:p>
        </p:txBody>
      </p:sp>
      <p:sp>
        <p:nvSpPr>
          <p:cNvPr id="80" name="Text 7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MODEL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Algorithms, Head-to-Head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36776"/>
            <a:ext cx="91440" cy="475488"/>
          </a:xfrm>
          <a:prstGeom prst="round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6C63FF">
              <a:alpha val="20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Linear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29000" y="16733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Baseline linear classifier with balanced class weights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2920" y="2350008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78024"/>
            <a:ext cx="91440" cy="475488"/>
          </a:xfrm>
          <a:prstGeom prst="round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K-Nearest Neighbors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7157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15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CAE4"/>
                </a:solidFill>
              </a:rPr>
              <a:t>Instance-based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Distance-weighted voting, k = 7 neighbors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" y="3191256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19272"/>
            <a:ext cx="91440" cy="475488"/>
          </a:xfrm>
          <a:prstGeom prst="round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64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Tree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55701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6D6A0">
              <a:alpha val="20000"/>
            </a:srgbClr>
          </a:solidFill>
          <a:ln w="9525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570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</a:rPr>
              <a:t>Tree-based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29000" y="33558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Max depth 8, min 10 samples/leaf, balanced weights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02920" y="4032504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160520"/>
            <a:ext cx="91440" cy="475488"/>
          </a:xfrm>
          <a:prstGeom prst="round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05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439826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7B731">
              <a:alpha val="20000"/>
            </a:srgbClr>
          </a:solidFill>
          <a:ln w="9525">
            <a:solidFill>
              <a:srgbClr val="F7B7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98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</a:rPr>
              <a:t>Ensemble (Bagging)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0" y="41970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150 trees, max depth 10, balanced class weights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02920" y="4873752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001768"/>
            <a:ext cx="91440" cy="47548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46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523951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F476F">
              <a:alpha val="20000"/>
            </a:srgbClr>
          </a:solidFill>
          <a:ln w="9525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239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Ensemble (Boosting)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29000" y="50383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100 estimators, learning rate 0.1, max depth 4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909560" y="1508760"/>
            <a:ext cx="3794760" cy="4663440"/>
          </a:xfrm>
          <a:prstGeom prst="roundRect">
            <a:avLst>
              <a:gd name="adj" fmla="val 337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Training Setup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816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Train / Test Split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813816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80% / 20%, stratified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138160" y="2724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Training Samples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813816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40,000 candidates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13816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Test Samples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813816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10,000 candidates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13816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Features Used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8138160" y="3986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25 engineered + encoded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8138160" y="4315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Cross-Validation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8138160" y="4517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5-fold Stratified K-Fold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138160" y="4846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Class Balance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8138160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Placed 56.3% / Not 43.7%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8138160" y="5376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49E"/>
                </a:solidFill>
              </a:rPr>
              <a:t>Selection Metric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813816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7B731"/>
                </a:solidFill>
              </a:rPr>
              <a:t>Highest AUC-ROC on test set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Curves — All 5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223760" cy="4709160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assets/16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667512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463040"/>
            <a:ext cx="3794760" cy="4709160"/>
          </a:xfrm>
          <a:prstGeom prst="roundRect">
            <a:avLst>
              <a:gd name="adj" fmla="val 337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Reading the ROC Curve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38160" y="2103120"/>
            <a:ext cx="3429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E6EDF3"/>
                </a:solidFill>
              </a:rPr>
              <a:t>Curves further from the diagonal = better separation between Placed / Not Placed classes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E6EDF3"/>
                </a:solidFill>
              </a:rPr>
              <a:t>Logistic Regression (AUC 0.698) and Gradient Boosting (AUC 0.696) lead the pack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E6EDF3"/>
                </a:solidFill>
              </a:rPr>
              <a:t>KNN trails behind — distance-based methods struggle with this feature mix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E6EDF3"/>
                </a:solidFill>
              </a:rPr>
              <a:t>AUC ≈ 0.70 reflects realistic, noisy HR signals — not an inflated toy result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Metrics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88036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146304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Accuracy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146304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137160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Recall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554480"/>
            <a:ext cx="118872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F1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554480"/>
            <a:ext cx="128016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AUC-ROC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49840" y="1554480"/>
            <a:ext cx="1554480" cy="457200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CV-AUC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011680"/>
            <a:ext cx="288036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11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⭐ Logistic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011680"/>
            <a:ext cx="146304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63.9%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146304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69.7%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137160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63.5%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80960" y="2011680"/>
            <a:ext cx="118872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0.665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69680" y="2011680"/>
            <a:ext cx="128016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0.698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149840" y="2011680"/>
            <a:ext cx="1554480" cy="566928"/>
          </a:xfrm>
          <a:prstGeom prst="rect">
            <a:avLst/>
          </a:prstGeom>
          <a:solidFill>
            <a:srgbClr val="1C2330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2011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0.697 ± .004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2578608"/>
            <a:ext cx="28803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578608"/>
            <a:ext cx="288036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Gradient Boosting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83280" y="2578608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64.7%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2578608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66.3%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2578608"/>
            <a:ext cx="13716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5786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75.8%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80960" y="2578608"/>
            <a:ext cx="11887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25786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0.707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69680" y="2578608"/>
            <a:ext cx="12801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0.696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49840" y="2578608"/>
            <a:ext cx="15544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49840" y="25786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0.692 ± .004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3145536"/>
            <a:ext cx="28803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145536"/>
            <a:ext cx="288036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83280" y="3145536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63.8%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46320" y="3145536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68.7%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09360" y="3145536"/>
            <a:ext cx="13716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1455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65.5%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80960" y="3145536"/>
            <a:ext cx="11887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31455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0.670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869680" y="3145536"/>
            <a:ext cx="12801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0.689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149840" y="3145536"/>
            <a:ext cx="15544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49840" y="31455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0.689 ± .003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2920" y="3712464"/>
            <a:ext cx="28803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383280" y="3712464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8328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60.8%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846320" y="3712464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68.0%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09360" y="3712464"/>
            <a:ext cx="13716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57.1%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680960" y="3712464"/>
            <a:ext cx="11887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80960" y="37124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0.621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869680" y="3712464"/>
            <a:ext cx="12801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6968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0.656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0149840" y="3712464"/>
            <a:ext cx="15544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49840" y="37124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0.657 ± .003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02920" y="4279392"/>
            <a:ext cx="28803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4279392"/>
            <a:ext cx="288036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K-Nearest Neighbors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383280" y="4279392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8328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58.0%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846320" y="4279392"/>
            <a:ext cx="146304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61.5%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309360" y="4279392"/>
            <a:ext cx="13716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4279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67.8%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680960" y="4279392"/>
            <a:ext cx="11887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80960" y="42793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0.645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8869680" y="4279392"/>
            <a:ext cx="128016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6968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0.596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149840" y="4279392"/>
            <a:ext cx="15544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A32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49840" y="42793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0.592 ± .004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02920" y="5257800"/>
            <a:ext cx="11201400" cy="868680"/>
          </a:xfrm>
          <a:prstGeom prst="roundRect">
            <a:avLst>
              <a:gd name="adj" fmla="val 12632"/>
            </a:avLst>
          </a:prstGeom>
          <a:solidFill>
            <a:srgbClr val="1C233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731520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1417320" y="5349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 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highest AUC-ROC (0.698) and most stable across 5-fold CV. A strong reminder that simple, well-regularized models can beat complex ensembles on modest-signal tabular data.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309360" cy="4709160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</a:rPr>
              <a:t>Feature Importance — Best Model</a:t>
            </a:r>
            <a:endParaRPr lang="en-US" sz="1150" dirty="0"/>
          </a:p>
        </p:txBody>
      </p:sp>
      <p:pic>
        <p:nvPicPr>
          <p:cNvPr id="7" name="Image 0" descr="/home/claude/ppt_assets/18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603504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95160" y="1463040"/>
            <a:ext cx="4709160" cy="4709160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0" y="1600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</a:rPr>
              <a:t>Confusion Matrix — Best Model</a:t>
            </a:r>
            <a:endParaRPr lang="en-US" sz="1150" dirty="0"/>
          </a:p>
        </p:txBody>
      </p:sp>
      <p:pic>
        <p:nvPicPr>
          <p:cNvPr id="10" name="Image 1" descr="/home/claude/ppt_assets/19_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20240"/>
            <a:ext cx="3566160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23760" y="5349240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06640" y="53492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Precision-weighted: model favors correctly flagging Placed candidates over minimizing false positives.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Algorithm Ranking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949440" cy="4709160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assets/20_algorithm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640080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63040"/>
            <a:ext cx="4069080" cy="4709160"/>
          </a:xfrm>
          <a:prstGeom prst="roundRect">
            <a:avLst>
              <a:gd name="adj" fmla="val 3146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 Why AUC-ROC?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Threshold-independent — measures ranking quality across all decision cutoffs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Robust to the moderate class imbalance in this dataset (56/44 split)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Directly comparable across very different algorithm families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</a:rPr>
              <a:t>Recruiters can tune the probability threshold later for precision vs. recall needs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06 ·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777240" cy="777240"/>
          </a:xfrm>
          <a:prstGeom prst="ellipse">
            <a:avLst/>
          </a:prstGeom>
          <a:solidFill>
            <a:srgbClr val="6C63FF">
              <a:alpha val="22000"/>
            </a:srgbClr>
          </a:solidFill>
          <a:ln w="15875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📊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1691640" y="1709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606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7 live KPIs — placement rate, dropout rate, avg interview score, high-risk %, and more, with tier/experience/competition breakdowns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161B2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737360"/>
            <a:ext cx="777240" cy="777240"/>
          </a:xfrm>
          <a:prstGeom prst="ellipse">
            <a:avLst/>
          </a:prstGeom>
          <a:solidFill>
            <a:srgbClr val="48CAE4">
              <a:alpha val="22000"/>
            </a:srgbClr>
          </a:solidFill>
          <a:ln w="15875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📈</a:t>
            </a:r>
            <a:endParaRPr lang="en-US" sz="2210" dirty="0"/>
          </a:p>
        </p:txBody>
      </p:sp>
      <p:sp>
        <p:nvSpPr>
          <p:cNvPr id="13" name="Text 11"/>
          <p:cNvSpPr/>
          <p:nvPr/>
        </p:nvSpPr>
        <p:spPr>
          <a:xfrm>
            <a:off x="7315200" y="1709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Charts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2512" y="2606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Tabbed exploration: Academic · Interview &amp; Skills · Certifications · Correlations — all interactive Plotly visuals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977640"/>
            <a:ext cx="777240" cy="777240"/>
          </a:xfrm>
          <a:prstGeom prst="ellipse">
            <a:avLst/>
          </a:prstGeom>
          <a:solidFill>
            <a:srgbClr val="06D6A0">
              <a:alpha val="22000"/>
            </a:srgbClr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🤖</a:t>
            </a:r>
            <a:endParaRPr lang="en-US" sz="2210" dirty="0"/>
          </a:p>
        </p:txBody>
      </p:sp>
      <p:sp>
        <p:nvSpPr>
          <p:cNvPr id="18" name="Text 16"/>
          <p:cNvSpPr/>
          <p:nvPr/>
        </p:nvSpPr>
        <p:spPr>
          <a:xfrm>
            <a:off x="1691640" y="3950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ROC curves, metrics comparison table, feature importance, and confusion matrix — rendered live from saved reports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161B22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977640"/>
            <a:ext cx="777240" cy="777240"/>
          </a:xfrm>
          <a:prstGeom prst="ellipse">
            <a:avLst/>
          </a:prstGeom>
          <a:solidFill>
            <a:srgbClr val="F7B731">
              <a:alpha val="22000"/>
            </a:srgbClr>
          </a:solidFill>
          <a:ln w="15875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🔮</a:t>
            </a:r>
            <a:endParaRPr lang="en-US" sz="2210" dirty="0"/>
          </a:p>
        </p:txBody>
      </p:sp>
      <p:sp>
        <p:nvSpPr>
          <p:cNvPr id="23" name="Text 21"/>
          <p:cNvSpPr/>
          <p:nvPr/>
        </p:nvSpPr>
        <p:spPr>
          <a:xfrm>
            <a:off x="7315200" y="3950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Real-time form: enter a candidate's profile, get instant acceptance probability with a gauge chart and risk factors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06 ·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Prediction in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94960" cy="4663440"/>
          </a:xfrm>
          <a:prstGeom prst="roundRect">
            <a:avLst>
              <a:gd name="adj" fmla="val 2745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 Candidate Input 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GPA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23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7.5 / 10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770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Interview Score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72491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2330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724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</a:rPr>
              <a:t>65 / 100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392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Skills Match 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3346704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233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346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65%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014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Certification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3968496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2330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B731"/>
                </a:solidFill>
              </a:rPr>
              <a:t>AWS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636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Company Tier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4590288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233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590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76F"/>
                </a:solidFill>
              </a:rPr>
              <a:t>Tier 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Competition Level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52120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23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Medium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1508760"/>
            <a:ext cx="5532120" cy="4663440"/>
          </a:xfrm>
          <a:prstGeom prst="roundRect">
            <a:avLst>
              <a:gd name="adj" fmla="val 2745"/>
            </a:avLst>
          </a:prstGeom>
          <a:solidFill>
            <a:srgbClr val="1C233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182880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PLACED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7863840" y="2606040"/>
            <a:ext cx="2148840" cy="2148840"/>
          </a:xfrm>
          <a:prstGeom prst="ellipse">
            <a:avLst/>
          </a:prstGeom>
          <a:solidFill>
            <a:srgbClr val="1C2330">
              <a:alpha val="0"/>
            </a:srgbClr>
          </a:solidFill>
          <a:ln w="177800">
            <a:solidFill>
              <a:srgbClr val="2A32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2606040"/>
            <a:ext cx="2148840" cy="2148840"/>
          </a:xfrm>
          <a:prstGeom prst="pie">
            <a:avLst>
              <a:gd name="adj1" fmla="val 16200000"/>
              <a:gd name="adj2" fmla="val 9936000"/>
            </a:avLst>
          </a:prstGeom>
          <a:solidFill>
            <a:srgbClr val="06D6A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2926080"/>
            <a:ext cx="1508760" cy="1508760"/>
          </a:xfrm>
          <a:prstGeom prst="ellipse">
            <a:avLst/>
          </a:prstGeom>
          <a:solidFill>
            <a:srgbClr val="1C2330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D6A0"/>
                </a:solidFill>
              </a:rPr>
              <a:t>71%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86384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Acceptance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Probability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46520" y="5029200"/>
            <a:ext cx="49834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Risk Level: </a:t>
            </a:r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LOW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Top factors: strong interview score, solid skills match, Tier 1 company boost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7784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Python 3.9+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Core language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892808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92808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47672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Pandas / NumPy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47672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Data wrangling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82696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82696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Matplotlib / Seaborn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Static EDA charts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672584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27448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Plotly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7448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Interactive dashboard charts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062472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62472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17336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17336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5 ML algorithms + metrics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452360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07224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Streamlit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07224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4-page web dashboard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842248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42248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897112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Joblib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97112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Model persistence (.pkl)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10232136" y="1508760"/>
            <a:ext cx="1344168" cy="1554480"/>
          </a:xfrm>
          <a:prstGeom prst="roundRect">
            <a:avLst>
              <a:gd name="adj" fmla="val 680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232136" y="1645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28700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SQLAlchemy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8700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B949E"/>
                </a:solidFill>
              </a:rPr>
              <a:t>DB-ready architecture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02920" y="3291840"/>
            <a:ext cx="5577840" cy="2880360"/>
          </a:xfrm>
          <a:prstGeom prst="roundRect">
            <a:avLst>
              <a:gd name="adj" fmla="val 381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3429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📁  Project Structure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" y="37673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job_acceptance_prediction_system/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41832" y="39867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setup.py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941832" y="4206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config/settings.py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941832" y="442569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data/generator.py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41832" y="46451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preprocessing/pipeline.py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41832" y="4864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features/engineering.py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941832" y="508406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eda/visualizations.py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941832" y="5303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models/training.py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941832" y="552297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dashboard/app.py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941832" y="57424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outputs/ (charts, models, reports)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263640" y="329184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1C233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9224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One Command, Full Pipeline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92240" y="388620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setup.py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92240" y="4480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Runs data generation → cleaning → feature engineering → EDA (15 charts) → trains 5 models → selects best. Completes in ~2 minutes.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92240" y="512064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dashboard/app.py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92240" y="5623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Launches the live dashboard at localhost:8501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Recruiters Can Act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1691640"/>
            <a:ext cx="640080" cy="640080"/>
          </a:xfrm>
          <a:prstGeom prst="ellipse">
            <a:avLst/>
          </a:prstGeom>
          <a:solidFill>
            <a:srgbClr val="6C63FF">
              <a:alpha val="22000"/>
            </a:srgbClr>
          </a:solidFill>
          <a:ln w="15875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🎤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Score Is King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8620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8B949E"/>
                </a:solidFill>
              </a:rPr>
              <a:t>The single strongest predictor of placement — investment in interview prep programs has outsized ROI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1691640"/>
            <a:ext cx="640080" cy="640080"/>
          </a:xfrm>
          <a:prstGeom prst="ellipse">
            <a:avLst/>
          </a:prstGeom>
          <a:solidFill>
            <a:srgbClr val="EF476F">
              <a:alpha val="22000"/>
            </a:srgbClr>
          </a:solidFill>
          <a:ln w="15875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📚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4434840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Backlogs Hurt More Than Expected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28620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8B949E"/>
                </a:solidFill>
              </a:rPr>
              <a:t>Each additional backlog measurably reduces placement odds — early academic intervention matters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1691640"/>
            <a:ext cx="640080" cy="640080"/>
          </a:xfrm>
          <a:prstGeom prst="ellipse">
            <a:avLst/>
          </a:prstGeom>
          <a:solidFill>
            <a:srgbClr val="06D6A0">
              <a:alpha val="22000"/>
            </a:srgbClr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🏅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Move the Needle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28620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8B949E"/>
                </a:solidFill>
              </a:rPr>
              <a:t>Certified candidates show a meaningfully higher acceptance rate than uncertified peers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1B22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3840480"/>
            <a:ext cx="640080" cy="640080"/>
          </a:xfrm>
          <a:prstGeom prst="ellipse">
            <a:avLst/>
          </a:prstGeom>
          <a:solidFill>
            <a:srgbClr val="F7B731">
              <a:alpha val="22000"/>
            </a:srgbClr>
          </a:solidFill>
          <a:ln w="15875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🏢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Tier Sets the Bar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0109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8B949E"/>
                </a:solidFill>
              </a:rPr>
              <a:t>Tier 1 acceptance rates are highest — competition level should shape candidate coaching strategy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297680" y="36576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1B2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3840480"/>
            <a:ext cx="640080" cy="640080"/>
          </a:xfrm>
          <a:prstGeom prst="ellipse">
            <a:avLst/>
          </a:prstGeom>
          <a:solidFill>
            <a:srgbClr val="48CAE4">
              <a:alpha val="22000"/>
            </a:srgbClr>
          </a:solidFill>
          <a:ln w="15875">
            <a:solidFill>
              <a:srgbClr val="48C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⚠️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4434840" y="45720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Segment Is Actionable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80560" y="50109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8B949E"/>
                </a:solidFill>
              </a:rPr>
              <a:t>The engineered high-risk flag lets recruiters proactively target struggling candidates before rejection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092440" y="36576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1B22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3840480"/>
            <a:ext cx="640080" cy="640080"/>
          </a:xfrm>
          <a:prstGeom prst="ellipse">
            <a:avLst/>
          </a:prstGeom>
          <a:solidFill>
            <a:srgbClr val="6C63FF">
              <a:alpha val="22000"/>
            </a:srgbClr>
          </a:solidFill>
          <a:ln w="15875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🎯</a:t>
            </a:r>
            <a:endParaRPr lang="en-US" sz="1820" dirty="0"/>
          </a:p>
        </p:txBody>
      </p:sp>
      <p:sp>
        <p:nvSpPr>
          <p:cNvPr id="33" name="Text 31"/>
          <p:cNvSpPr/>
          <p:nvPr/>
        </p:nvSpPr>
        <p:spPr>
          <a:xfrm>
            <a:off x="8229600" y="45720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69.8% AUC Is a Credible Baseline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75320" y="50109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8B949E"/>
                </a:solidFill>
              </a:rPr>
              <a:t>Realistic for noisy HR data — a strong foundation to layer richer features (resume text, referrals) onto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7B731">
              <a:alpha val="7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B731"/>
                </a:solidFill>
              </a:rPr>
              <a:t>Project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Prediction Engine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50,000-record synthetic HR dataset cleaned through a rigorous 6-step pipeline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8 engineered features, including a composite Placement Probability score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15 EDA visualizations uncovering the real drivers of acceptance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5 ML algorithms benchmarked head-to-head; Logistic Regression wins on AUC-ROC (0.698)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Fully interactive Streamlit dashboard with live, real-time candidate scoring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66760" y="2834640"/>
            <a:ext cx="3337560" cy="3108960"/>
          </a:xfrm>
          <a:prstGeom prst="roundRect">
            <a:avLst>
              <a:gd name="adj" fmla="val 4118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66760" y="3063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🏆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36676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66760" y="4251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78240" y="4617720"/>
            <a:ext cx="251460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709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66760" y="5193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</a:rPr>
              <a:t>AUC-ROC SCORE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6126480"/>
            <a:ext cx="1120140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2636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Job Acceptance Prediction System  ·  GUVI HCL Fullstack Data Science with Generative &amp; Agentic AI Program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Acceptance Prediction System</dc:title>
  <dc:subject>PptxGenJS Presentation</dc:subject>
  <dc:creator>GUVI HCL Data Science Program</dc:creator>
  <cp:lastModifiedBy>GUVI HCL Data Science Program</cp:lastModifiedBy>
  <cp:revision>1</cp:revision>
  <dcterms:created xsi:type="dcterms:W3CDTF">2026-07-22T03:43:45Z</dcterms:created>
  <dcterms:modified xsi:type="dcterms:W3CDTF">2026-07-22T03:43:45Z</dcterms:modified>
</cp:coreProperties>
</file>